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1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340290-9E63-4922-89AB-EDD7A8D6BA6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CB4161-6C0D-40D6-BEBD-458419DA1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347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5858C-82B3-477C-B572-513164017F10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A380F-9F97-4CBB-A53F-D6B3C9671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228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04214-4D91-4C89-B1E1-734F3559ABA1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A380F-9F97-4CBB-A53F-D6B3C9671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793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39A14-E21A-4616-A3CC-CE42CAA7A3BC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A380F-9F97-4CBB-A53F-D6B3C9671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50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84FDC-74AB-410E-9BE3-062BD74AA100}" type="datetime1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A380F-9F97-4CBB-A53F-D6B3C9671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414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7BFEE-BDA3-4000-9B2E-A5E21F70C928}" type="datetime1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A380F-9F97-4CBB-A53F-D6B3C9671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845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40941-5556-4506-81DC-BAF7EBD784C8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A380F-9F97-4CBB-A53F-D6B3C9671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034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FE3CB-EDB8-4E9C-B00E-5385E5807305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A380F-9F97-4CBB-A53F-D6B3C9671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556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4027C-AFBF-4B01-9772-D8CF382A27E6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A380F-9F97-4CBB-A53F-D6B3C9671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046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906E7-6F41-4D97-9FC3-E104991FFB93}" type="datetime1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A380F-9F97-4CBB-A53F-D6B3C9671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848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D5E0B-1858-49B5-82B4-8996EB766B11}" type="datetime1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A380F-9F97-4CBB-A53F-D6B3C9671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987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8614D-D00C-4DFB-8C46-6BB764828BA5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A380F-9F97-4CBB-A53F-D6B3C9671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8476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E939F-AB24-44DB-98F3-497A928612F1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A380F-9F97-4CBB-A53F-D6B3C967122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012761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77211-2AD8-4495-A5F4-165E68F3629F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A380F-9F97-4CBB-A53F-D6B3C9671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1503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B7AD7-A9CE-4DF0-8F36-157BABDA769E}" type="datetime1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A380F-9F97-4CBB-A53F-D6B3C9671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8982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D01F0-EEDA-4A52-9CC2-33EEC2859A06}" type="datetime1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A380F-9F97-4CBB-A53F-D6B3C9671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470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CC843-DECD-49CF-8114-22315375552F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A380F-9F97-4CBB-A53F-D6B3C9671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1725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4C5B4-0E26-4821-95D0-12136300917C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A380F-9F97-4CBB-A53F-D6B3C9671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717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15E039D-0AB6-457F-A2A4-F0D55BDEF2BF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CA380F-9F97-4CBB-A53F-D6B3C9671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3757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995680"/>
            <a:ext cx="7766936" cy="3055156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 smtClean="0"/>
              <a:t>Topic:</a:t>
            </a:r>
            <a:r>
              <a:rPr lang="en-US" sz="4800" dirty="0" smtClean="0"/>
              <a:t> The Evolution of the Web and Threads Platform Analysis </a:t>
            </a:r>
            <a:br>
              <a:rPr lang="en-US" sz="4800" dirty="0" smtClean="0"/>
            </a:br>
            <a:r>
              <a:rPr lang="en-US" sz="4800" b="1" dirty="0" smtClean="0"/>
              <a:t>Course:</a:t>
            </a:r>
            <a:r>
              <a:rPr lang="en-US" sz="4800" dirty="0" smtClean="0"/>
              <a:t> SCS3406</a:t>
            </a:r>
            <a:endParaRPr lang="en-US" sz="4800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710267" y="4930182"/>
            <a:ext cx="8225970" cy="1431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Overview: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Tracing the web from static pages to the "Emotional Web."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In-depth analysis of Meta’s Threads platform.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A380F-9F97-4CBB-A53F-D6B3C967122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4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1.0 – The Static Web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5" y="1921072"/>
            <a:ext cx="8596668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Read-Only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Nature: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Static HTML pages hosted on centralized servers.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Role: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Purely information consumers with almost no interaction.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Content: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Created by developers/webmasters; data owned by website owners.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Served as a digital library for information retrieval.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HTML, HTTP, and FTP.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65" t="16145" r="69231" b="30603"/>
          <a:stretch>
            <a:fillRect/>
          </a:stretch>
        </p:blipFill>
        <p:spPr bwMode="auto">
          <a:xfrm>
            <a:off x="8017641" y="538528"/>
            <a:ext cx="1456690" cy="147463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A380F-9F97-4CBB-A53F-D6B3C967122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380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2.0 – The Social Web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1403447"/>
            <a:ext cx="9736666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Read-Write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Nature: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Dynamic content and social networking (blogs, wikis, social media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Role: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Active participants and content creators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Centralized within Big Tech companies like Meta and Google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Shift: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Interaction, collaboration, and community building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AJAX, JavaScript frameworks, REST APIs, and Cloud Computing.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48" t="17109" r="38995" b="32289"/>
          <a:stretch>
            <a:fillRect/>
          </a:stretch>
        </p:blipFill>
        <p:spPr bwMode="auto">
          <a:xfrm>
            <a:off x="8301967" y="720068"/>
            <a:ext cx="1493673" cy="143455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A380F-9F97-4CBB-A53F-D6B3C967122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199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3.0 – The Decentralized Web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1480293"/>
            <a:ext cx="9373500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Focus: Read-Write-Own</a:t>
            </a:r>
            <a:r>
              <a:rPr kumimoji="0" lang="en-US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Architecture:</a:t>
            </a:r>
            <a:r>
              <a:rPr kumimoji="0" lang="en-US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Built on decentralized systems like </a:t>
            </a:r>
            <a:r>
              <a:rPr kumimoji="0" lang="en-US" altLang="en-US" sz="19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blockchain</a:t>
            </a:r>
            <a:r>
              <a:rPr kumimoji="0" lang="en-US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to give users control over their data, identity, and digital assets.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Ownership:</a:t>
            </a:r>
            <a:r>
              <a:rPr kumimoji="0" lang="en-US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Users can manage and monetize their own data through technologies like tokens and NFTs.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Security:</a:t>
            </a:r>
            <a:r>
              <a:rPr kumimoji="0" lang="en-US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Data is secured through cryptography rather than being held by centralized companies.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Governance:</a:t>
            </a:r>
            <a:r>
              <a:rPr kumimoji="0" lang="en-US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Supports trustless transactions, smart contracts, decentralized applications (</a:t>
            </a:r>
            <a:r>
              <a:rPr kumimoji="0" lang="en-US" altLang="en-US" sz="19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dApps</a:t>
            </a:r>
            <a:r>
              <a:rPr kumimoji="0" lang="en-US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), and DAOs.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Intelligence:</a:t>
            </a:r>
            <a:r>
              <a:rPr kumimoji="0" lang="en-US" altLang="en-US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Utilizes AI, machine learning, and semantic web technologies to connect and process information more intelligently.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31" t="18554" r="7692" b="31084"/>
          <a:stretch>
            <a:fillRect/>
          </a:stretch>
        </p:blipFill>
        <p:spPr bwMode="auto">
          <a:xfrm>
            <a:off x="10426263" y="1475358"/>
            <a:ext cx="1129939" cy="128713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A380F-9F97-4CBB-A53F-D6B3C967122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98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2.0 – Pros &amp; Cons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6602" y="2279045"/>
            <a:ext cx="3967989" cy="1038501"/>
          </a:xfrm>
        </p:spPr>
        <p:txBody>
          <a:bodyPr/>
          <a:lstStyle/>
          <a:p>
            <a:pPr lvl="0"/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Advantages: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7" name="Rectangle 1"/>
          <p:cNvSpPr>
            <a:spLocks noGrp="1" noChangeArrowheads="1"/>
          </p:cNvSpPr>
          <p:nvPr>
            <p:ph sz="half" idx="2"/>
          </p:nvPr>
        </p:nvSpPr>
        <p:spPr bwMode="auto">
          <a:xfrm>
            <a:off x="675745" y="2901808"/>
            <a:ext cx="489473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Democratization: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Anyone can publish content (YouTube, citizen journalism).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Collaboration: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Collective intelligence (Wikipedia) and global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communication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Experience: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Rich, interactive interfaces (Google Docs).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44825" y="2510165"/>
            <a:ext cx="4185618" cy="576262"/>
          </a:xfrm>
        </p:spPr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Disadvantages: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Rectangle 2"/>
          <p:cNvSpPr>
            <a:spLocks noGrp="1" noChangeArrowheads="1"/>
          </p:cNvSpPr>
          <p:nvPr>
            <p:ph sz="quarter" idx="4"/>
          </p:nvPr>
        </p:nvSpPr>
        <p:spPr bwMode="auto">
          <a:xfrm>
            <a:off x="5885793" y="3227987"/>
            <a:ext cx="5181599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Centralization: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Monopolistic control and data exploitation.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Privacy: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Centralized "honeypots" lead to massive data breaches.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Social Impact: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Cyberbullying and mental health concerns.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A380F-9F97-4CBB-A53F-D6B3C967122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132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Technologies Driving Web 3.0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9135542"/>
              </p:ext>
            </p:extLst>
          </p:nvPr>
        </p:nvGraphicFramePr>
        <p:xfrm>
          <a:off x="677863" y="1765736"/>
          <a:ext cx="10484124" cy="4120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4708">
                  <a:extLst>
                    <a:ext uri="{9D8B030D-6E8A-4147-A177-3AD203B41FA5}">
                      <a16:colId xmlns:a16="http://schemas.microsoft.com/office/drawing/2014/main" val="4208496377"/>
                    </a:ext>
                  </a:extLst>
                </a:gridCol>
                <a:gridCol w="3494708">
                  <a:extLst>
                    <a:ext uri="{9D8B030D-6E8A-4147-A177-3AD203B41FA5}">
                      <a16:colId xmlns:a16="http://schemas.microsoft.com/office/drawing/2014/main" val="2883633937"/>
                    </a:ext>
                  </a:extLst>
                </a:gridCol>
                <a:gridCol w="3494708">
                  <a:extLst>
                    <a:ext uri="{9D8B030D-6E8A-4147-A177-3AD203B41FA5}">
                      <a16:colId xmlns:a16="http://schemas.microsoft.com/office/drawing/2014/main" val="3775252526"/>
                    </a:ext>
                  </a:extLst>
                </a:gridCol>
              </a:tblGrid>
              <a:tr h="824012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Technology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Bridges Web 2.0 Limitation...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Role in Web 3.0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01600" marB="101600" anchor="ctr"/>
                </a:tc>
                <a:extLst>
                  <a:ext uri="{0D108BD9-81ED-4DB2-BD59-A6C34878D82A}">
                    <a16:rowId xmlns:a16="http://schemas.microsoft.com/office/drawing/2014/main" val="415476117"/>
                  </a:ext>
                </a:extLst>
              </a:tr>
              <a:tr h="824012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Blockchain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Centralization/Lack of trust </a:t>
                      </a: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Decentralized data; self-sovereign identity </a:t>
                      </a:r>
                    </a:p>
                  </a:txBody>
                  <a:tcPr marT="101600" marB="101600" anchor="ctr"/>
                </a:tc>
                <a:extLst>
                  <a:ext uri="{0D108BD9-81ED-4DB2-BD59-A6C34878D82A}">
                    <a16:rowId xmlns:a16="http://schemas.microsoft.com/office/drawing/2014/main" val="1648271514"/>
                  </a:ext>
                </a:extLst>
              </a:tr>
              <a:tr h="824012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Semantic Web/AI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Limited keyword-based search </a:t>
                      </a: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Context-aware, smarter data processing </a:t>
                      </a:r>
                    </a:p>
                  </a:txBody>
                  <a:tcPr marT="101600" marB="101600" anchor="ctr"/>
                </a:tc>
                <a:extLst>
                  <a:ext uri="{0D108BD9-81ED-4DB2-BD59-A6C34878D82A}">
                    <a16:rowId xmlns:a16="http://schemas.microsoft.com/office/drawing/2014/main" val="1234188116"/>
                  </a:ext>
                </a:extLst>
              </a:tr>
              <a:tr h="824012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IoT &amp; 5G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System/Device disconnection </a:t>
                      </a: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Real-time data exchange for responsiveness </a:t>
                      </a:r>
                    </a:p>
                  </a:txBody>
                  <a:tcPr marT="101600" marB="101600" anchor="ctr"/>
                </a:tc>
                <a:extLst>
                  <a:ext uri="{0D108BD9-81ED-4DB2-BD59-A6C34878D82A}">
                    <a16:rowId xmlns:a16="http://schemas.microsoft.com/office/drawing/2014/main" val="2051432397"/>
                  </a:ext>
                </a:extLst>
              </a:tr>
              <a:tr h="824012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AR/VR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Flat, non-immersive web </a:t>
                      </a: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Immersive virtual environments (</a:t>
                      </a: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Metaverse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 </a:t>
                      </a:r>
                    </a:p>
                  </a:txBody>
                  <a:tcPr marT="101600" marB="101600" anchor="ctr"/>
                </a:tc>
                <a:extLst>
                  <a:ext uri="{0D108BD9-81ED-4DB2-BD59-A6C34878D82A}">
                    <a16:rowId xmlns:a16="http://schemas.microsoft.com/office/drawing/2014/main" val="2316391382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A380F-9F97-4CBB-A53F-D6B3C967122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140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3.0 Implementation Challenges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2245688"/>
            <a:ext cx="10589756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Scalability: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Low transaction speeds and high costs compared to centralized databases.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UX Complexity: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Managing private keys and "gas fees" is too difficult for average users.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Smart contract bugs and wallet hacks remain significant risks.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Regulation: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Legal uncertainty regarding data jurisdiction and DAO classification.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A380F-9F97-4CBB-A53F-D6B3C967122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790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Frontiers: Web 4.0 &amp; 5.0</a:t>
            </a:r>
          </a:p>
        </p:txBody>
      </p:sp>
      <p:sp>
        <p:nvSpPr>
          <p:cNvPr id="5" name="Rectangle 1"/>
          <p:cNvSpPr>
            <a:spLocks noGrp="1" noChangeArrowheads="1"/>
          </p:cNvSpPr>
          <p:nvPr>
            <p:ph sz="half" idx="1"/>
          </p:nvPr>
        </p:nvSpPr>
        <p:spPr bwMode="auto">
          <a:xfrm>
            <a:off x="567559" y="1754376"/>
            <a:ext cx="4803226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4.0: The Symbiotic Web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Seamless human-machine interaction.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Agentic AI: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Systems that independently plan/execute tasks.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Spatial Computing: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Virtual replicas of real-world systems (Digital Twins).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sz="half" idx="2"/>
          </p:nvPr>
        </p:nvSpPr>
        <p:spPr bwMode="auto">
          <a:xfrm>
            <a:off x="5980386" y="2305755"/>
            <a:ext cx="5538952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5.0: The Emotional Web: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Human-centered and intuitive.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Emotional AI: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Systems that recognize human feelings.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BCIs: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Brain-Computer Interfaces for direct communication.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A380F-9F97-4CBB-A53F-D6B3C967122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426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Threads – Platform Analysis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1504443"/>
            <a:ext cx="9959135" cy="5001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b="1" dirty="0"/>
              <a:t>The Rapid Rise of a New Platform</a:t>
            </a: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Official Launch:</a:t>
            </a:r>
            <a:r>
              <a:rPr lang="en-US" dirty="0"/>
              <a:t> July 5, 2023, by Meta’s Instagram team as a text-first competitor to X (formerly Twitter).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Fastest Growing App in History:</a:t>
            </a:r>
            <a:endParaRPr lang="en-US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b="1" dirty="0"/>
              <a:t>2 Million Users:</a:t>
            </a:r>
            <a:r>
              <a:rPr lang="en-US" dirty="0"/>
              <a:t> Within 2 hours of launch.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b="1" dirty="0"/>
              <a:t>30 Million Users:</a:t>
            </a:r>
            <a:r>
              <a:rPr lang="en-US" dirty="0"/>
              <a:t> In less than 24 hours.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b="1" dirty="0"/>
              <a:t>100 Million Users:</a:t>
            </a:r>
            <a:r>
              <a:rPr lang="en-US" dirty="0"/>
              <a:t> Achieved in just 5 days, shattering the record previously held by </a:t>
            </a:r>
            <a:r>
              <a:rPr lang="en-US" dirty="0" err="1"/>
              <a:t>ChatGPT</a:t>
            </a:r>
            <a:r>
              <a:rPr lang="en-US" dirty="0"/>
              <a:t> (which took 2 months).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Expansion &amp; Milestones:</a:t>
            </a:r>
            <a:endParaRPr lang="en-US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b="1" dirty="0"/>
              <a:t>Dec 2023:</a:t>
            </a:r>
            <a:r>
              <a:rPr lang="en-US" dirty="0"/>
              <a:t> Officially launched in the European Union following regulatory reviews.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b="1" dirty="0"/>
              <a:t>Late 2024:</a:t>
            </a:r>
            <a:r>
              <a:rPr lang="en-US" dirty="0"/>
              <a:t> Surpassed 275 million monthly active users (MAU).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b="1" dirty="0"/>
              <a:t>Early 2026:</a:t>
            </a:r>
            <a:r>
              <a:rPr lang="en-US" dirty="0"/>
              <a:t> Reached </a:t>
            </a:r>
            <a:r>
              <a:rPr lang="en-US" b="1" dirty="0"/>
              <a:t>141.5 million daily active mobile users</a:t>
            </a:r>
            <a:r>
              <a:rPr lang="en-US" dirty="0"/>
              <a:t>, officially overtaking X in global mobile usage.</a:t>
            </a:r>
          </a:p>
        </p:txBody>
      </p:sp>
      <p:pic>
        <p:nvPicPr>
          <p:cNvPr id="5" name="Picture 4" descr="https://public-files.gumroad.com/4j2u730w87nq2pouyeq4vr0pqhal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2484" y="380397"/>
            <a:ext cx="1147445" cy="102876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A380F-9F97-4CBB-A53F-D6B3C967122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079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Threads – Audience &amp; Usage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1730826"/>
            <a:ext cx="10925386" cy="4621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b="1" dirty="0"/>
              <a:t>Global Reach &amp; User Demographics</a:t>
            </a: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Current Scale (2026):</a:t>
            </a:r>
            <a:r>
              <a:rPr lang="en-US" dirty="0"/>
              <a:t> Now boasts over </a:t>
            </a:r>
            <a:r>
              <a:rPr lang="en-US" b="1" dirty="0"/>
              <a:t>400 million monthly active users</a:t>
            </a:r>
            <a:r>
              <a:rPr lang="en-US" dirty="0"/>
              <a:t> globally.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Top Markets:</a:t>
            </a:r>
            <a:r>
              <a:rPr lang="en-US" dirty="0"/>
              <a:t> India holds the largest user base (approx. 54M), followed by Brazil (36M) and the United States (26M).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Demographics:</a:t>
            </a:r>
            <a:r>
              <a:rPr lang="en-US" dirty="0"/>
              <a:t> Primarily attracts a younger, mobile-driven audience: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b="1" dirty="0"/>
              <a:t>18–34 Age Group:</a:t>
            </a:r>
            <a:r>
              <a:rPr lang="en-US" dirty="0"/>
              <a:t> Accounts for over 55% of the platform’s total user base.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b="1" dirty="0"/>
              <a:t>Gender Split:</a:t>
            </a:r>
            <a:r>
              <a:rPr lang="en-US" dirty="0"/>
              <a:t> Approx. 68% male and 32% female.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Financial Impact:</a:t>
            </a:r>
            <a:r>
              <a:rPr lang="en-US" dirty="0"/>
              <a:t> Projected to contribute </a:t>
            </a:r>
            <a:r>
              <a:rPr lang="en-US" b="1" dirty="0"/>
              <a:t>$11.3 billion</a:t>
            </a:r>
            <a:r>
              <a:rPr lang="en-US" dirty="0"/>
              <a:t> to Meta’s annual revenue by the end of 2026 through its integrated advertising model.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The "</a:t>
            </a:r>
            <a:r>
              <a:rPr lang="en-US" b="1" dirty="0" err="1"/>
              <a:t>Fediverse</a:t>
            </a:r>
            <a:r>
              <a:rPr lang="en-US" b="1" dirty="0"/>
              <a:t>" Vision:</a:t>
            </a:r>
            <a:r>
              <a:rPr lang="en-US" dirty="0"/>
              <a:t> Implementation of the </a:t>
            </a:r>
            <a:r>
              <a:rPr lang="en-US" b="1" dirty="0" err="1"/>
              <a:t>ActivityPub</a:t>
            </a:r>
            <a:r>
              <a:rPr lang="en-US" b="1" dirty="0"/>
              <a:t> protocol</a:t>
            </a:r>
            <a:r>
              <a:rPr lang="en-US" dirty="0"/>
              <a:t> marks a shift toward decentralized social networking, allowing interoperability with platforms like Mastodon.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A380F-9F97-4CBB-A53F-D6B3C967122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305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Social Use &amp; Gratifications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9531727"/>
              </p:ext>
            </p:extLst>
          </p:nvPr>
        </p:nvGraphicFramePr>
        <p:xfrm>
          <a:off x="677334" y="1597922"/>
          <a:ext cx="10813626" cy="4625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4542">
                  <a:extLst>
                    <a:ext uri="{9D8B030D-6E8A-4147-A177-3AD203B41FA5}">
                      <a16:colId xmlns:a16="http://schemas.microsoft.com/office/drawing/2014/main" val="3626975061"/>
                    </a:ext>
                  </a:extLst>
                </a:gridCol>
                <a:gridCol w="3604542">
                  <a:extLst>
                    <a:ext uri="{9D8B030D-6E8A-4147-A177-3AD203B41FA5}">
                      <a16:colId xmlns:a16="http://schemas.microsoft.com/office/drawing/2014/main" val="2815201999"/>
                    </a:ext>
                  </a:extLst>
                </a:gridCol>
                <a:gridCol w="3604542">
                  <a:extLst>
                    <a:ext uri="{9D8B030D-6E8A-4147-A177-3AD203B41FA5}">
                      <a16:colId xmlns:a16="http://schemas.microsoft.com/office/drawing/2014/main" val="1892696049"/>
                    </a:ext>
                  </a:extLst>
                </a:gridCol>
              </a:tblGrid>
              <a:tr h="445066">
                <a:tc>
                  <a:txBody>
                    <a:bodyPr/>
                    <a:lstStyle/>
                    <a:p>
                      <a:pPr rtl="0"/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Primary Use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Description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Key Insight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01600" marB="101600" anchor="ctr"/>
                </a:tc>
                <a:extLst>
                  <a:ext uri="{0D108BD9-81ED-4DB2-BD59-A6C34878D82A}">
                    <a16:rowId xmlns:a16="http://schemas.microsoft.com/office/drawing/2014/main" val="2835959914"/>
                  </a:ext>
                </a:extLst>
              </a:tr>
              <a:tr h="871776">
                <a:tc>
                  <a:txBody>
                    <a:bodyPr/>
                    <a:lstStyle/>
                    <a:p>
                      <a:pPr rtl="0"/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Community &amp; Fandom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Connecting over shared hobbies and pop culture.</a:t>
                      </a: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Community-based interaction is a major attraction.</a:t>
                      </a:r>
                    </a:p>
                  </a:txBody>
                  <a:tcPr marT="101600" marB="101600" anchor="ctr"/>
                </a:tc>
                <a:extLst>
                  <a:ext uri="{0D108BD9-81ED-4DB2-BD59-A6C34878D82A}">
                    <a16:rowId xmlns:a16="http://schemas.microsoft.com/office/drawing/2014/main" val="492535148"/>
                  </a:ext>
                </a:extLst>
              </a:tr>
              <a:tr h="687829">
                <a:tc>
                  <a:txBody>
                    <a:bodyPr/>
                    <a:lstStyle/>
                    <a:p>
                      <a:pPr rtl="0"/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Real-Time Conversation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Public discussions and opinion sharing.</a:t>
                      </a: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Replies generate about 50% of platform reach.</a:t>
                      </a:r>
                    </a:p>
                  </a:txBody>
                  <a:tcPr marT="101600" marB="101600" anchor="ctr"/>
                </a:tc>
                <a:extLst>
                  <a:ext uri="{0D108BD9-81ED-4DB2-BD59-A6C34878D82A}">
                    <a16:rowId xmlns:a16="http://schemas.microsoft.com/office/drawing/2014/main" val="1701537463"/>
                  </a:ext>
                </a:extLst>
              </a:tr>
              <a:tr h="871776">
                <a:tc>
                  <a:txBody>
                    <a:bodyPr/>
                    <a:lstStyle/>
                    <a:p>
                      <a:pPr rtl="0"/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Low-Conflict Interaction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 more positive environment than X.</a:t>
                      </a: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72% of early users joined for the non-toxic atmosphere.</a:t>
                      </a:r>
                    </a:p>
                  </a:txBody>
                  <a:tcPr marT="101600" marB="101600" anchor="ctr"/>
                </a:tc>
                <a:extLst>
                  <a:ext uri="{0D108BD9-81ED-4DB2-BD59-A6C34878D82A}">
                    <a16:rowId xmlns:a16="http://schemas.microsoft.com/office/drawing/2014/main" val="455807022"/>
                  </a:ext>
                </a:extLst>
              </a:tr>
              <a:tr h="871776">
                <a:tc>
                  <a:txBody>
                    <a:bodyPr/>
                    <a:lstStyle/>
                    <a:p>
                      <a:pPr rtl="0"/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Text-First Content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Focus on text-based posts (with multimedia support).</a:t>
                      </a: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Easier discovery for new voices than visual-heavy platforms.</a:t>
                      </a:r>
                    </a:p>
                  </a:txBody>
                  <a:tcPr marT="101600" marB="101600" anchor="ctr"/>
                </a:tc>
                <a:extLst>
                  <a:ext uri="{0D108BD9-81ED-4DB2-BD59-A6C34878D82A}">
                    <a16:rowId xmlns:a16="http://schemas.microsoft.com/office/drawing/2014/main" val="62707876"/>
                  </a:ext>
                </a:extLst>
              </a:tr>
              <a:tr h="871776">
                <a:tc>
                  <a:txBody>
                    <a:bodyPr/>
                    <a:lstStyle/>
                    <a:p>
                      <a:pPr rtl="0"/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Creators &amp; Brands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Following accounts using a casual, conversational tone.</a:t>
                      </a: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Engaging, text-based content performs exceptionally well.</a:t>
                      </a:r>
                    </a:p>
                  </a:txBody>
                  <a:tcPr marT="101600" marB="101600" anchor="ctr"/>
                </a:tc>
                <a:extLst>
                  <a:ext uri="{0D108BD9-81ED-4DB2-BD59-A6C34878D82A}">
                    <a16:rowId xmlns:a16="http://schemas.microsoft.com/office/drawing/2014/main" val="3071174930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A380F-9F97-4CBB-A53F-D6B3C967122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058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29042"/>
          </a:xfrm>
        </p:spPr>
        <p:txBody>
          <a:bodyPr/>
          <a:lstStyle/>
          <a:p>
            <a:r>
              <a:rPr lang="en-US" sz="3600" dirty="0"/>
              <a:t>Supporting Technologies &amp; Architecture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1332872"/>
            <a:ext cx="10884746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Infrastructure Powering Threads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Instagram Integration: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Seamlessly uses Instagram login (OAuth 2.0) and reuses Meta’s existing servers and CDNs for instant scalability.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Social Graph Import: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Automatically imports users’ existing social networks from Instagram to create a personalized feed immediately upon joining.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Scalability: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Built using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microservices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Kubernetes with Kafka and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Redis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ensure low-latency performance across Meta’s infrastructure.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&amp; Machine Learning: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Leverages AI/ML models to power personalized content feeds and automated moderation.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Content Processing: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Utilizes NLP (Natural Language Processing) and computer vision to manage and moderate text and media at scale.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Fediverse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Integration: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Implements the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ActivityPub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protocol to enable cross-platform interoperability and data portability.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A380F-9F97-4CBB-A53F-D6B3C967122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534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Usability &amp;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45325"/>
            <a:ext cx="10590106" cy="46960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User Experience (UX) &amp; Engagement</a:t>
            </a:r>
            <a:endParaRPr lang="en-US" sz="14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1400" b="1" dirty="0"/>
              <a:t>Seamless Onboarding:</a:t>
            </a:r>
            <a:r>
              <a:rPr lang="en-US" sz="1400" dirty="0"/>
              <a:t> Use of Instagram login (OAuth 2.0) allows for instant account creation and social graph import, resulting in a near-zero learning curve.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400" b="1" dirty="0"/>
              <a:t>Intuitive Interface:</a:t>
            </a:r>
            <a:r>
              <a:rPr lang="en-US" sz="1400" dirty="0"/>
              <a:t> Features a clean, familiar UI that prioritizes readability and ease of navigation compared to more cluttered platforms.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400" b="1" dirty="0"/>
              <a:t>Positive Social Climate:</a:t>
            </a:r>
            <a:r>
              <a:rPr lang="en-US" sz="1400" dirty="0"/>
              <a:t> Fosters a friendly, conversational environment that encourages genuine interaction; 72% of early users joined specifically for the "non-toxic" atmosphere.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400" b="1" dirty="0"/>
              <a:t>Content Tone:</a:t>
            </a:r>
            <a:r>
              <a:rPr lang="en-US" sz="1400" dirty="0"/>
              <a:t> While the focus on "kindness" is welcomed, the platform’s active avoidance of news and hard politics can occasionally make the feed feel "bland" for research or current events.</a:t>
            </a:r>
          </a:p>
          <a:p>
            <a:pPr marL="0" indent="0">
              <a:buNone/>
            </a:pPr>
            <a:r>
              <a:rPr lang="en-US" sz="1400" b="1" dirty="0"/>
              <a:t>Key Challenges &amp; Observations</a:t>
            </a:r>
            <a:endParaRPr lang="en-US" sz="14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1400" b="1" dirty="0"/>
              <a:t>Retention Issues:</a:t>
            </a:r>
            <a:r>
              <a:rPr lang="en-US" sz="1400" dirty="0"/>
              <a:t> High initial sign-up rates are contrasted by lower long-term activity, with roughly 70% of sign-ups becoming inactive.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400" b="1" dirty="0"/>
              <a:t>Monetization Friction:</a:t>
            </a:r>
            <a:r>
              <a:rPr lang="en-US" sz="1400" dirty="0"/>
              <a:t> The introduction of ads in late 2025 led to a measurable decrease in daily active time and some user backlash.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400" b="1" dirty="0"/>
              <a:t>Inconsistent Brand Presence:</a:t>
            </a:r>
            <a:r>
              <a:rPr lang="en-US" sz="1400" dirty="0"/>
              <a:t> Engagement with professional brands remains variable, impacting the platform's utility for networking compared to established professional or news-heavy sites.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A380F-9F97-4CBB-A53F-D6B3C967122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585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45</TotalTime>
  <Words>1232</Words>
  <Application>Microsoft Office PowerPoint</Application>
  <PresentationFormat>Widescreen</PresentationFormat>
  <Paragraphs>164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Century Gothic</vt:lpstr>
      <vt:lpstr>Google Sans Text</vt:lpstr>
      <vt:lpstr>Wingdings</vt:lpstr>
      <vt:lpstr>Wingdings 3</vt:lpstr>
      <vt:lpstr>Ion</vt:lpstr>
      <vt:lpstr>Topic: The Evolution of the Web and Threads Platform Analysis  Course: SCS3406</vt:lpstr>
      <vt:lpstr>Web 1.0 – The Static Web</vt:lpstr>
      <vt:lpstr>Web 2.0 – The Social Web</vt:lpstr>
      <vt:lpstr>Web 3.0 – The Decentralized Web</vt:lpstr>
      <vt:lpstr>Web 2.0 – Pros &amp; Cons</vt:lpstr>
      <vt:lpstr>Technologies Driving Web 3.0</vt:lpstr>
      <vt:lpstr>Web 3.0 Implementation Challenges</vt:lpstr>
      <vt:lpstr>Future Frontiers: Web 4.0 &amp; 5.0</vt:lpstr>
      <vt:lpstr>Threads – Platform Analysis</vt:lpstr>
      <vt:lpstr>Threads – Audience &amp; Usage</vt:lpstr>
      <vt:lpstr>Social Use &amp; Gratifications</vt:lpstr>
      <vt:lpstr>Supporting Technologies &amp; Architecture</vt:lpstr>
      <vt:lpstr>Usability &amp; Experience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The Evolution of the Web and Threads Platform Analysis  Course: SCS3406</dc:title>
  <dc:creator>lenovo</dc:creator>
  <cp:lastModifiedBy>lenovo</cp:lastModifiedBy>
  <cp:revision>18</cp:revision>
  <dcterms:created xsi:type="dcterms:W3CDTF">2026-03-09T11:27:42Z</dcterms:created>
  <dcterms:modified xsi:type="dcterms:W3CDTF">2026-03-09T12:28:18Z</dcterms:modified>
</cp:coreProperties>
</file>